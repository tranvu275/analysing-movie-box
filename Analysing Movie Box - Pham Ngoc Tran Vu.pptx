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66" r:id="rId5"/>
    <p:sldId id="258" r:id="rId6"/>
    <p:sldId id="270" r:id="rId7"/>
    <p:sldId id="275" r:id="rId8"/>
    <p:sldId id="284" r:id="rId9"/>
  </p:sldIdLst>
  <p:sldSz cx="18288000" cy="10287000"/>
  <p:notesSz cx="6858000" cy="9144000"/>
  <p:embeddedFontLst>
    <p:embeddedFont>
      <p:font typeface="Antic Bold" panose="020B0604020202020204" charset="0"/>
      <p:regular r:id="rId10"/>
    </p:embeddedFont>
    <p:embeddedFont>
      <p:font typeface="Aptos Narrow" panose="020B0004020202020204" pitchFamily="34" charset="0"/>
      <p:regular r:id="rId11"/>
      <p:bold r:id="rId12"/>
      <p:italic r:id="rId13"/>
      <p:boldItalic r:id="rId14"/>
    </p:embeddedFont>
    <p:embeddedFont>
      <p:font typeface="TAN Headlin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n\UNT\3.%20Summer%202026\BUSI%203100%20-%20Professional%20Development%20II\Project\Solution%20Example%20Team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n\UNT\3.%20Summer%202026\BUSI%203100%20-%20Professional%20Development%20II\Project\Solution%20Example%20Team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n\UNT\3.%20Summer%202026\BUSI%203100%20-%20Professional%20Development%20II\Project\Solution%20Example%20Team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n\UNT\3.%20Summer%202026\BUSI%203100%20-%20Professional%20Development%20II\Project\Solution%20Example%20Team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Tran\UNT\3.%20Summer%202026\BUSI%203100%20-%20Professional%20Development%20II\Project\Solution%20Example%20Team%20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Return on Investment by Genre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ROI_Genre!$B$1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ROI_Genre!$A$2:$A$8</c:f>
              <c:strCache>
                <c:ptCount val="7"/>
                <c:pt idx="0">
                  <c:v>Action</c:v>
                </c:pt>
                <c:pt idx="1">
                  <c:v>Adventure</c:v>
                </c:pt>
                <c:pt idx="2">
                  <c:v>Comedy</c:v>
                </c:pt>
                <c:pt idx="3">
                  <c:v>Drama</c:v>
                </c:pt>
                <c:pt idx="4">
                  <c:v>Horror</c:v>
                </c:pt>
                <c:pt idx="5">
                  <c:v>Musical</c:v>
                </c:pt>
                <c:pt idx="6">
                  <c:v>Thriller/Suspense</c:v>
                </c:pt>
              </c:strCache>
            </c:strRef>
          </c:cat>
          <c:val>
            <c:numRef>
              <c:f>ROI_Genre!$B$2:$B$8</c:f>
              <c:numCache>
                <c:formatCode>0%</c:formatCode>
                <c:ptCount val="7"/>
                <c:pt idx="0">
                  <c:v>5.2215427380603341</c:v>
                </c:pt>
                <c:pt idx="1">
                  <c:v>4.5405113616161614</c:v>
                </c:pt>
                <c:pt idx="2">
                  <c:v>16.660775259449153</c:v>
                </c:pt>
                <c:pt idx="3">
                  <c:v>16.847217688337665</c:v>
                </c:pt>
                <c:pt idx="4">
                  <c:v>25.604838522348484</c:v>
                </c:pt>
                <c:pt idx="5">
                  <c:v>3.5294154705882352</c:v>
                </c:pt>
                <c:pt idx="6">
                  <c:v>1.5543336116666666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F-4244-BA2A-3110D48148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01575359"/>
        <c:axId val="701575839"/>
      </c:barChart>
      <c:catAx>
        <c:axId val="7015753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7030A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1575839"/>
        <c:crosses val="autoZero"/>
        <c:auto val="1"/>
        <c:lblAlgn val="ctr"/>
        <c:lblOffset val="100"/>
        <c:noMultiLvlLbl val="0"/>
      </c:catAx>
      <c:valAx>
        <c:axId val="7015758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157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19050" cap="flat" cmpd="sng" algn="ctr">
      <a:solidFill>
        <a:schemeClr val="accent5"/>
      </a:solidFill>
      <a:round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International vs. Domestic Markets Revenue by Genre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Dom_Int!$B$1</c:f>
              <c:strCache>
                <c:ptCount val="1"/>
                <c:pt idx="0">
                  <c:v>Sum of Domestic Revenue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Dom_Int!$A$2:$A$8</c:f>
              <c:strCache>
                <c:ptCount val="7"/>
                <c:pt idx="0">
                  <c:v>Action</c:v>
                </c:pt>
                <c:pt idx="1">
                  <c:v>Adventure</c:v>
                </c:pt>
                <c:pt idx="2">
                  <c:v>Comedy</c:v>
                </c:pt>
                <c:pt idx="3">
                  <c:v>Drama</c:v>
                </c:pt>
                <c:pt idx="4">
                  <c:v>Horror</c:v>
                </c:pt>
                <c:pt idx="5">
                  <c:v>Musical</c:v>
                </c:pt>
                <c:pt idx="6">
                  <c:v>Thriller/Suspense</c:v>
                </c:pt>
              </c:strCache>
            </c:strRef>
          </c:cat>
          <c:val>
            <c:numRef>
              <c:f>Dom_Int!$B$2:$B$8</c:f>
              <c:numCache>
                <c:formatCode>_(* #,##0.00_);_(* \(#,##0.00\);_(* "-"??_);_(@_)</c:formatCode>
                <c:ptCount val="7"/>
                <c:pt idx="0">
                  <c:v>2836555458</c:v>
                </c:pt>
                <c:pt idx="1">
                  <c:v>984028955</c:v>
                </c:pt>
                <c:pt idx="2">
                  <c:v>545178500</c:v>
                </c:pt>
                <c:pt idx="3">
                  <c:v>1324580356</c:v>
                </c:pt>
                <c:pt idx="4">
                  <c:v>344678966</c:v>
                </c:pt>
                <c:pt idx="5">
                  <c:v>198000317</c:v>
                </c:pt>
                <c:pt idx="6">
                  <c:v>362463526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3F-4CEF-8203-EA22413BA8A0}"/>
            </c:ext>
          </c:extLst>
        </c:ser>
        <c:ser>
          <c:idx val="1"/>
          <c:order val="1"/>
          <c:tx>
            <c:strRef>
              <c:f>Dom_Int!$C$1</c:f>
              <c:strCache>
                <c:ptCount val="1"/>
                <c:pt idx="0">
                  <c:v>Sum of Int'l Revenue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Dom_Int!$A$2:$A$8</c:f>
              <c:strCache>
                <c:ptCount val="7"/>
                <c:pt idx="0">
                  <c:v>Action</c:v>
                </c:pt>
                <c:pt idx="1">
                  <c:v>Adventure</c:v>
                </c:pt>
                <c:pt idx="2">
                  <c:v>Comedy</c:v>
                </c:pt>
                <c:pt idx="3">
                  <c:v>Drama</c:v>
                </c:pt>
                <c:pt idx="4">
                  <c:v>Horror</c:v>
                </c:pt>
                <c:pt idx="5">
                  <c:v>Musical</c:v>
                </c:pt>
                <c:pt idx="6">
                  <c:v>Thriller/Suspense</c:v>
                </c:pt>
              </c:strCache>
            </c:strRef>
          </c:cat>
          <c:val>
            <c:numRef>
              <c:f>Dom_Int!$C$2:$C$8</c:f>
              <c:numCache>
                <c:formatCode>_(* #,##0.00_);_(* \(#,##0.00\);_(* "-"??_);_(@_)</c:formatCode>
                <c:ptCount val="7"/>
                <c:pt idx="0">
                  <c:v>5952456439</c:v>
                </c:pt>
                <c:pt idx="1">
                  <c:v>1610220486</c:v>
                </c:pt>
                <c:pt idx="2">
                  <c:v>576469686</c:v>
                </c:pt>
                <c:pt idx="3">
                  <c:v>2166139388</c:v>
                </c:pt>
                <c:pt idx="4">
                  <c:v>511315080</c:v>
                </c:pt>
                <c:pt idx="5">
                  <c:v>186999998</c:v>
                </c:pt>
                <c:pt idx="6">
                  <c:v>521336891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3F-4CEF-8203-EA22413BA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48293279"/>
        <c:axId val="548294719"/>
      </c:barChart>
      <c:catAx>
        <c:axId val="548293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8294719"/>
        <c:crosses val="autoZero"/>
        <c:auto val="1"/>
        <c:lblAlgn val="ctr"/>
        <c:lblOffset val="100"/>
        <c:noMultiLvlLbl val="0"/>
      </c:catAx>
      <c:valAx>
        <c:axId val="5482947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8293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12700" cap="flat" cmpd="sng" algn="ctr">
      <a:solidFill>
        <a:schemeClr val="accent2"/>
      </a:solidFill>
      <a:round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8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'Percentage Dom'!$D$1</c:f>
              <c:strCache>
                <c:ptCount val="1"/>
                <c:pt idx="0">
                  <c:v>Percentage Domestic Revenue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'Percentage Dom'!$A$2:$A$31</c:f>
              <c:strCache>
                <c:ptCount val="30"/>
                <c:pt idx="0">
                  <c:v>Rush Hour 2 </c:v>
                </c:pt>
                <c:pt idx="1">
                  <c:v>Mission: Impossible—Fallout </c:v>
                </c:pt>
                <c:pt idx="2">
                  <c:v>No Time to Die</c:v>
                </c:pt>
                <c:pt idx="3">
                  <c:v>White House Down</c:v>
                </c:pt>
                <c:pt idx="4">
                  <c:v>Olympus Has Fallen</c:v>
                </c:pt>
                <c:pt idx="5">
                  <c:v>Harry Potter and the Order of the Phoenix</c:v>
                </c:pt>
                <c:pt idx="6">
                  <c:v>Percy Jackson: Sea of Monsters</c:v>
                </c:pt>
                <c:pt idx="7">
                  <c:v>How to Train Your Dragon</c:v>
                </c:pt>
                <c:pt idx="8">
                  <c:v>Avengers: Endgame</c:v>
                </c:pt>
                <c:pt idx="9">
                  <c:v>Parasite</c:v>
                </c:pt>
                <c:pt idx="10">
                  <c:v>The Karate Kid</c:v>
                </c:pt>
                <c:pt idx="11">
                  <c:v>Home Alone</c:v>
                </c:pt>
                <c:pt idx="12">
                  <c:v>The Godfather</c:v>
                </c:pt>
                <c:pt idx="13">
                  <c:v>Jumanji: Welcome to the Jungle</c:v>
                </c:pt>
                <c:pt idx="14">
                  <c:v>Now You See Me</c:v>
                </c:pt>
                <c:pt idx="15">
                  <c:v>Forrest Gump</c:v>
                </c:pt>
                <c:pt idx="16">
                  <c:v>Spotlight </c:v>
                </c:pt>
                <c:pt idx="17">
                  <c:v>Good Will Hunting</c:v>
                </c:pt>
                <c:pt idx="18">
                  <c:v>Pearl Harbor</c:v>
                </c:pt>
                <c:pt idx="19">
                  <c:v>Titanic </c:v>
                </c:pt>
                <c:pt idx="20">
                  <c:v>The Interpreter</c:v>
                </c:pt>
                <c:pt idx="21">
                  <c:v>Happy Feet</c:v>
                </c:pt>
                <c:pt idx="22">
                  <c:v>Anyone But You</c:v>
                </c:pt>
                <c:pt idx="23">
                  <c:v>300 </c:v>
                </c:pt>
                <c:pt idx="24">
                  <c:v>Avatar</c:v>
                </c:pt>
                <c:pt idx="25">
                  <c:v>The Conjuring</c:v>
                </c:pt>
                <c:pt idx="26">
                  <c:v>The Boy</c:v>
                </c:pt>
                <c:pt idx="27">
                  <c:v>Insidious</c:v>
                </c:pt>
                <c:pt idx="28">
                  <c:v>The Nun </c:v>
                </c:pt>
                <c:pt idx="29">
                  <c:v>Jackass </c:v>
                </c:pt>
              </c:strCache>
            </c:strRef>
          </c:cat>
          <c:val>
            <c:numRef>
              <c:f>'Percentage Dom'!$D$2:$D$31</c:f>
              <c:numCache>
                <c:formatCode>0.00%</c:formatCode>
                <c:ptCount val="30"/>
                <c:pt idx="0">
                  <c:v>0.6509714165410706</c:v>
                </c:pt>
                <c:pt idx="1">
                  <c:v>0.28000459180910486</c:v>
                </c:pt>
                <c:pt idx="2">
                  <c:v>0.21199722707939467</c:v>
                </c:pt>
                <c:pt idx="3">
                  <c:v>0.3558393997768316</c:v>
                </c:pt>
                <c:pt idx="4">
                  <c:v>0.57237510490592713</c:v>
                </c:pt>
                <c:pt idx="5">
                  <c:v>0.31266767457373079</c:v>
                </c:pt>
                <c:pt idx="6">
                  <c:v>0.34133080869033494</c:v>
                </c:pt>
                <c:pt idx="7">
                  <c:v>0.44071680152272796</c:v>
                </c:pt>
                <c:pt idx="8">
                  <c:v>0.31586817338179357</c:v>
                </c:pt>
                <c:pt idx="9">
                  <c:v>0.21234739802727753</c:v>
                </c:pt>
                <c:pt idx="10">
                  <c:v>0.50200170314577663</c:v>
                </c:pt>
                <c:pt idx="11">
                  <c:v>0.59948380381006128</c:v>
                </c:pt>
                <c:pt idx="12">
                  <c:v>0.50546761693496434</c:v>
                </c:pt>
                <c:pt idx="13">
                  <c:v>0.42064799896120847</c:v>
                </c:pt>
                <c:pt idx="14">
                  <c:v>0.34344972943893443</c:v>
                </c:pt>
                <c:pt idx="15">
                  <c:v>0.4856341192614762</c:v>
                </c:pt>
                <c:pt idx="16">
                  <c:v>0.4902565914519047</c:v>
                </c:pt>
                <c:pt idx="17">
                  <c:v>0.61273798385364153</c:v>
                </c:pt>
                <c:pt idx="18">
                  <c:v>0.44194622020767155</c:v>
                </c:pt>
                <c:pt idx="19">
                  <c:v>0.30339415727064478</c:v>
                </c:pt>
                <c:pt idx="20">
                  <c:v>0.44673700073811468</c:v>
                </c:pt>
                <c:pt idx="21">
                  <c:v>0.51428611688278747</c:v>
                </c:pt>
                <c:pt idx="22">
                  <c:v>0.40178237372280989</c:v>
                </c:pt>
                <c:pt idx="23">
                  <c:v>0.46374414667755015</c:v>
                </c:pt>
                <c:pt idx="24">
                  <c:v>0.26857065724705664</c:v>
                </c:pt>
                <c:pt idx="25">
                  <c:v>0.43461300403981862</c:v>
                </c:pt>
                <c:pt idx="26">
                  <c:v>0.48451035550245025</c:v>
                </c:pt>
                <c:pt idx="27">
                  <c:v>0.54078973525878204</c:v>
                </c:pt>
                <c:pt idx="28">
                  <c:v>0.32085802709437172</c:v>
                </c:pt>
                <c:pt idx="29">
                  <c:v>0.68366858424262766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B-45D5-A550-A1B60B6B699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81374399"/>
        <c:axId val="781372959"/>
      </c:barChart>
      <c:catAx>
        <c:axId val="7813743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1372959"/>
        <c:crosses val="autoZero"/>
        <c:auto val="1"/>
        <c:lblAlgn val="ctr"/>
        <c:lblOffset val="100"/>
        <c:noMultiLvlLbl val="0"/>
      </c:catAx>
      <c:valAx>
        <c:axId val="781372959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1374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12700" cap="flat" cmpd="sng" algn="ctr">
      <a:solidFill>
        <a:schemeClr val="accent6"/>
      </a:solidFill>
      <a:round/>
    </a:ln>
    <a:effectLst/>
  </c:spPr>
  <c:txPr>
    <a:bodyPr/>
    <a:lstStyle/>
    <a:p>
      <a:pPr>
        <a:defRPr sz="24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8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Total Revenue Compared to Production Budgets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8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Data!$E$1</c:f>
              <c:strCache>
                <c:ptCount val="1"/>
                <c:pt idx="0">
                  <c:v> Total Revenue 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exp"/>
            <c:dispRSqr val="0"/>
            <c:dispEq val="0"/>
          </c:trendline>
          <c:xVal>
            <c:numRef>
              <c:f>Data!$B$2:$B$31</c:f>
              <c:numCache>
                <c:formatCode>_(* #,##0_);_(* \(#,##0\);_(* "-"??_);_(@_)</c:formatCode>
                <c:ptCount val="30"/>
                <c:pt idx="0">
                  <c:v>90000000</c:v>
                </c:pt>
                <c:pt idx="1">
                  <c:v>178000000</c:v>
                </c:pt>
                <c:pt idx="2">
                  <c:v>250000000</c:v>
                </c:pt>
                <c:pt idx="3">
                  <c:v>150000000</c:v>
                </c:pt>
                <c:pt idx="4">
                  <c:v>70000000</c:v>
                </c:pt>
                <c:pt idx="5">
                  <c:v>150000000</c:v>
                </c:pt>
                <c:pt idx="6">
                  <c:v>90000000</c:v>
                </c:pt>
                <c:pt idx="7">
                  <c:v>165000000</c:v>
                </c:pt>
                <c:pt idx="8">
                  <c:v>400000000</c:v>
                </c:pt>
                <c:pt idx="9">
                  <c:v>11800000</c:v>
                </c:pt>
                <c:pt idx="10">
                  <c:v>40000000</c:v>
                </c:pt>
                <c:pt idx="11">
                  <c:v>15000000</c:v>
                </c:pt>
                <c:pt idx="12">
                  <c:v>7000000</c:v>
                </c:pt>
                <c:pt idx="13">
                  <c:v>90000000</c:v>
                </c:pt>
                <c:pt idx="14">
                  <c:v>75000000</c:v>
                </c:pt>
                <c:pt idx="15">
                  <c:v>55000000</c:v>
                </c:pt>
                <c:pt idx="16">
                  <c:v>20000000</c:v>
                </c:pt>
                <c:pt idx="17">
                  <c:v>10000000</c:v>
                </c:pt>
                <c:pt idx="18">
                  <c:v>151500000</c:v>
                </c:pt>
                <c:pt idx="19">
                  <c:v>200000000</c:v>
                </c:pt>
                <c:pt idx="20">
                  <c:v>90000000</c:v>
                </c:pt>
                <c:pt idx="21">
                  <c:v>85000000</c:v>
                </c:pt>
                <c:pt idx="22">
                  <c:v>25000000</c:v>
                </c:pt>
                <c:pt idx="23">
                  <c:v>60000000</c:v>
                </c:pt>
                <c:pt idx="24">
                  <c:v>237000000</c:v>
                </c:pt>
                <c:pt idx="25">
                  <c:v>20000000</c:v>
                </c:pt>
                <c:pt idx="26">
                  <c:v>10000000</c:v>
                </c:pt>
                <c:pt idx="27">
                  <c:v>1500000</c:v>
                </c:pt>
                <c:pt idx="28">
                  <c:v>22000000</c:v>
                </c:pt>
                <c:pt idx="29">
                  <c:v>20000000</c:v>
                </c:pt>
              </c:numCache>
            </c:numRef>
          </c:xVal>
          <c:yVal>
            <c:numRef>
              <c:f>Data!$E$2:$E$31</c:f>
              <c:numCache>
                <c:formatCode>_(* #,##0_);_(* \(#,##0\);_(* "-"??_);_(@_)</c:formatCode>
                <c:ptCount val="30"/>
                <c:pt idx="0">
                  <c:v>347425832</c:v>
                </c:pt>
                <c:pt idx="1">
                  <c:v>786269620</c:v>
                </c:pt>
                <c:pt idx="2">
                  <c:v>758929771</c:v>
                </c:pt>
                <c:pt idx="3">
                  <c:v>205440387</c:v>
                </c:pt>
                <c:pt idx="4">
                  <c:v>172836993</c:v>
                </c:pt>
                <c:pt idx="5">
                  <c:v>937444235</c:v>
                </c:pt>
                <c:pt idx="6">
                  <c:v>200859554</c:v>
                </c:pt>
                <c:pt idx="7">
                  <c:v>494312845</c:v>
                </c:pt>
                <c:pt idx="8">
                  <c:v>2717503922</c:v>
                </c:pt>
                <c:pt idx="9">
                  <c:v>253678159</c:v>
                </c:pt>
                <c:pt idx="10">
                  <c:v>351774938</c:v>
                </c:pt>
                <c:pt idx="11">
                  <c:v>476678838</c:v>
                </c:pt>
                <c:pt idx="12">
                  <c:v>270007394</c:v>
                </c:pt>
                <c:pt idx="13">
                  <c:v>961632807</c:v>
                </c:pt>
                <c:pt idx="14">
                  <c:v>342769200</c:v>
                </c:pt>
                <c:pt idx="15">
                  <c:v>679835137</c:v>
                </c:pt>
                <c:pt idx="16">
                  <c:v>91902438</c:v>
                </c:pt>
                <c:pt idx="17">
                  <c:v>225925989</c:v>
                </c:pt>
                <c:pt idx="18">
                  <c:v>449239853</c:v>
                </c:pt>
                <c:pt idx="19">
                  <c:v>2223048786</c:v>
                </c:pt>
                <c:pt idx="20">
                  <c:v>162753837</c:v>
                </c:pt>
                <c:pt idx="21">
                  <c:v>385000315</c:v>
                </c:pt>
                <c:pt idx="22">
                  <c:v>219819668</c:v>
                </c:pt>
                <c:pt idx="23">
                  <c:v>454161935</c:v>
                </c:pt>
                <c:pt idx="24">
                  <c:v>2923706026</c:v>
                </c:pt>
                <c:pt idx="25">
                  <c:v>316143649</c:v>
                </c:pt>
                <c:pt idx="26">
                  <c:v>73929392</c:v>
                </c:pt>
                <c:pt idx="27">
                  <c:v>99870886</c:v>
                </c:pt>
                <c:pt idx="28">
                  <c:v>366050119</c:v>
                </c:pt>
                <c:pt idx="29">
                  <c:v>171471521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F1-402E-8505-64B3426F0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2705775"/>
        <c:axId val="704880047"/>
      </c:scatterChart>
      <c:valAx>
        <c:axId val="8627057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Budget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4880047"/>
        <c:crosses val="autoZero"/>
        <c:crossBetween val="midCat"/>
      </c:valAx>
      <c:valAx>
        <c:axId val="70488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7057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905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 sz="240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'AVG ProfitMargin_Genre'!$A$3:$A$9</cx:f>
        <cx:lvl ptCount="7">
          <cx:pt idx="0">Action</cx:pt>
          <cx:pt idx="1">Adventure</cx:pt>
          <cx:pt idx="2">Comedy</cx:pt>
          <cx:pt idx="3">Drama</cx:pt>
          <cx:pt idx="4">Horror</cx:pt>
          <cx:pt idx="5">Musical</cx:pt>
          <cx:pt idx="6">Thriller/Suspense</cx:pt>
        </cx:lvl>
      </cx:strDim>
      <cx:numDim type="val">
        <cx:f>'AVG ProfitMargin_Genre'!$B$3:$B$9</cx:f>
        <cx:lvl ptCount="7" formatCode="0.00%">
          <cx:pt idx="0">0.79673036814587495</cx:pt>
          <cx:pt idx="1">0.74113216956082817</cx:pt>
          <cx:pt idx="2">0.92291240211045522</cx:pt>
          <cx:pt idx="3">0.90826438286618516</cx:pt>
          <cx:pt idx="4">0.93158824202851598</cx:pt>
          <cx:pt idx="5">0.77922095985817574</cx:pt>
          <cx:pt idx="6">0.52326670529001518</cx:pt>
        </cx:lvl>
      </cx:numDim>
    </cx:data>
  </cx:chartData>
  <cx:chart>
    <cx:title pos="t" align="ctr" overlay="0">
      <cx:tx>
        <cx:txData>
          <cx:v>Average of Profit Margin by Genre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2800"/>
          </a:pPr>
          <a:r>
            <a:rPr lang="en-US" sz="28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Average of Profit Margin by Genre</a:t>
          </a:r>
        </a:p>
      </cx:txPr>
    </cx:title>
    <cx:plotArea>
      <cx:plotAreaRegion>
        <cx:series layoutId="funnel" uniqueId="{2A83BF48-F44C-4F62-A39A-BC66FACECBCE}">
          <cx:tx>
            <cx:txData>
              <cx:f>'AVG ProfitMargin_Genre'!$B$2</cx:f>
              <cx:v>Average of Profit Margin</cx:v>
            </cx:txData>
          </cx:tx>
          <cx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accent4"/>
              </a:solidFill>
              <a:prstDash val="solid"/>
              <a:miter lim="800000"/>
            </a:ln>
            <a:effectLst/>
          </cx:spPr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2800" b="0" i="0">
                    <a:solidFill>
                      <a:srgbClr val="595959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 sz="2800"/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vertOverflow="overflow" horzOverflow="overflow" wrap="square" lIns="0" tIns="0" rIns="0" bIns="0"/>
          <a:lstStyle/>
          <a:p>
            <a:pPr algn="ctr" rtl="0">
              <a:defRPr sz="2800" b="0" i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 sz="2800"/>
          </a:p>
        </cx:txPr>
      </cx:axis>
    </cx:plotArea>
  </cx:chart>
  <cx:spPr>
    <a:ln w="12700">
      <a:solidFill>
        <a:schemeClr val="accent4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0237" y="2171208"/>
            <a:ext cx="13607527" cy="5944585"/>
            <a:chOff x="0" y="0"/>
            <a:chExt cx="3583875" cy="1565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3875" cy="1565652"/>
            </a:xfrm>
            <a:custGeom>
              <a:avLst/>
              <a:gdLst/>
              <a:ahLst/>
              <a:cxnLst/>
              <a:rect l="l" t="t" r="r" b="b"/>
              <a:pathLst>
                <a:path w="3583875" h="1565652">
                  <a:moveTo>
                    <a:pt x="0" y="0"/>
                  </a:moveTo>
                  <a:lnTo>
                    <a:pt x="3583875" y="0"/>
                  </a:lnTo>
                  <a:lnTo>
                    <a:pt x="3583875" y="1565652"/>
                  </a:lnTo>
                  <a:lnTo>
                    <a:pt x="0" y="1565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583875" cy="1594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70560" y="4122105"/>
            <a:ext cx="8946880" cy="336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51"/>
              </a:lnSpc>
            </a:pPr>
            <a:r>
              <a:rPr lang="en-US" sz="14542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Movie Box</a:t>
            </a:r>
          </a:p>
        </p:txBody>
      </p:sp>
      <p:sp>
        <p:nvSpPr>
          <p:cNvPr id="9" name="Freeform 9"/>
          <p:cNvSpPr/>
          <p:nvPr/>
        </p:nvSpPr>
        <p:spPr>
          <a:xfrm>
            <a:off x="-308957" y="-222363"/>
            <a:ext cx="5746837" cy="4816894"/>
          </a:xfrm>
          <a:custGeom>
            <a:avLst/>
            <a:gdLst/>
            <a:ahLst/>
            <a:cxnLst/>
            <a:rect l="l" t="t" r="r" b="b"/>
            <a:pathLst>
              <a:path w="5746837" h="4816894">
                <a:moveTo>
                  <a:pt x="0" y="0"/>
                </a:moveTo>
                <a:lnTo>
                  <a:pt x="5746837" y="0"/>
                </a:lnTo>
                <a:lnTo>
                  <a:pt x="5746837" y="4816894"/>
                </a:lnTo>
                <a:lnTo>
                  <a:pt x="0" y="4816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63375" y="5943901"/>
            <a:ext cx="4177060" cy="4669478"/>
          </a:xfrm>
          <a:custGeom>
            <a:avLst/>
            <a:gdLst/>
            <a:ahLst/>
            <a:cxnLst/>
            <a:rect l="l" t="t" r="r" b="b"/>
            <a:pathLst>
              <a:path w="4177060" h="4669478">
                <a:moveTo>
                  <a:pt x="0" y="0"/>
                </a:moveTo>
                <a:lnTo>
                  <a:pt x="4177060" y="0"/>
                </a:lnTo>
                <a:lnTo>
                  <a:pt x="4177060" y="4669478"/>
                </a:lnTo>
                <a:lnTo>
                  <a:pt x="0" y="4669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237710" y="2740067"/>
            <a:ext cx="3812581" cy="92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5"/>
              </a:lnSpc>
            </a:pPr>
            <a:r>
              <a:rPr lang="en-US" sz="5719" dirty="0" err="1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Analysing</a:t>
            </a:r>
            <a:endParaRPr lang="en-US" sz="5719" dirty="0">
              <a:solidFill>
                <a:srgbClr val="000000"/>
              </a:solidFill>
              <a:latin typeface="Antic Bold"/>
              <a:ea typeface="Antic Bold"/>
              <a:cs typeface="Antic Bold"/>
              <a:sym typeface="Antic Bold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B1C0DD8D-CC29-EC1D-540F-ECF54039AC33}"/>
              </a:ext>
            </a:extLst>
          </p:cNvPr>
          <p:cNvSpPr txBox="1"/>
          <p:nvPr/>
        </p:nvSpPr>
        <p:spPr>
          <a:xfrm>
            <a:off x="-609600" y="8985818"/>
            <a:ext cx="9505221" cy="897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35"/>
              </a:lnSpc>
            </a:pPr>
            <a:r>
              <a:rPr lang="en-US" sz="571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By: Pham Ngoc Tran Vu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419100"/>
            <a:ext cx="18288000" cy="1708150"/>
            <a:chOff x="0" y="0"/>
            <a:chExt cx="5011430" cy="449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D5302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 rot="-690026">
            <a:off x="15060991" y="-349796"/>
            <a:ext cx="2527585" cy="4114800"/>
          </a:xfrm>
          <a:custGeom>
            <a:avLst/>
            <a:gdLst/>
            <a:ahLst/>
            <a:cxnLst/>
            <a:rect l="l" t="t" r="r" b="b"/>
            <a:pathLst>
              <a:path w="2527585" h="4114800">
                <a:moveTo>
                  <a:pt x="0" y="0"/>
                </a:moveTo>
                <a:lnTo>
                  <a:pt x="2527586" y="0"/>
                </a:lnTo>
                <a:lnTo>
                  <a:pt x="25275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85800" y="646975"/>
            <a:ext cx="14640937" cy="1143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5500" dirty="0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Return on Investment  by Genre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171FEE57-65C7-F733-1EEB-108CA87069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188192"/>
              </p:ext>
            </p:extLst>
          </p:nvPr>
        </p:nvGraphicFramePr>
        <p:xfrm>
          <a:off x="1752600" y="2552700"/>
          <a:ext cx="14013428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Box 38">
            <a:extLst>
              <a:ext uri="{FF2B5EF4-FFF2-40B4-BE49-F238E27FC236}">
                <a16:creationId xmlns:a16="http://schemas.microsoft.com/office/drawing/2014/main" id="{5EA1E136-0476-F8DE-0FC0-63719FC08226}"/>
              </a:ext>
            </a:extLst>
          </p:cNvPr>
          <p:cNvSpPr txBox="1"/>
          <p:nvPr/>
        </p:nvSpPr>
        <p:spPr>
          <a:xfrm>
            <a:off x="272845" y="8831206"/>
            <a:ext cx="18015155" cy="2280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3200" dirty="0">
                <a:latin typeface="Antic Bold" panose="020B0604020202020204" charset="0"/>
                <a:ea typeface="Antic Bold" panose="020B0604020202020204" charset="0"/>
                <a:cs typeface="TAN Headline"/>
                <a:sym typeface="TAN Headline"/>
              </a:rPr>
              <a:t>Horror and Drama movies generated the highest ROI, while Thriller/Suspense produced the lowest average return.</a:t>
            </a:r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6F0C62D4-D7BB-B9BD-78AD-AFF792C0ACB8}"/>
              </a:ext>
            </a:extLst>
          </p:cNvPr>
          <p:cNvSpPr/>
          <p:nvPr/>
        </p:nvSpPr>
        <p:spPr>
          <a:xfrm>
            <a:off x="261940" y="8877300"/>
            <a:ext cx="542920" cy="482642"/>
          </a:xfrm>
          <a:custGeom>
            <a:avLst/>
            <a:gdLst/>
            <a:ahLst/>
            <a:cxnLst/>
            <a:rect l="l" t="t" r="r" b="b"/>
            <a:pathLst>
              <a:path w="3651662" h="4114800">
                <a:moveTo>
                  <a:pt x="0" y="0"/>
                </a:moveTo>
                <a:lnTo>
                  <a:pt x="3651663" y="0"/>
                </a:lnTo>
                <a:lnTo>
                  <a:pt x="3651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74" y="342900"/>
            <a:ext cx="18288000" cy="1708150"/>
            <a:chOff x="0" y="0"/>
            <a:chExt cx="5011430" cy="449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27039" y="8917596"/>
            <a:ext cx="18052026" cy="437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Most movies earned significantly more revenue from international markets than domestic markets.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3574" y="579560"/>
            <a:ext cx="17074495" cy="1126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55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International vs. Domestic Revenue</a:t>
            </a:r>
          </a:p>
        </p:txBody>
      </p:sp>
      <p:sp>
        <p:nvSpPr>
          <p:cNvPr id="11" name="Freeform 11"/>
          <p:cNvSpPr/>
          <p:nvPr/>
        </p:nvSpPr>
        <p:spPr>
          <a:xfrm rot="9818173" flipH="1">
            <a:off x="15474469" y="-42524"/>
            <a:ext cx="3132904" cy="3196786"/>
          </a:xfrm>
          <a:custGeom>
            <a:avLst/>
            <a:gdLst/>
            <a:ahLst/>
            <a:cxnLst/>
            <a:rect l="l" t="t" r="r" b="b"/>
            <a:pathLst>
              <a:path w="6229648" h="5221577">
                <a:moveTo>
                  <a:pt x="6229647" y="0"/>
                </a:moveTo>
                <a:lnTo>
                  <a:pt x="0" y="0"/>
                </a:lnTo>
                <a:lnTo>
                  <a:pt x="0" y="5221578"/>
                </a:lnTo>
                <a:lnTo>
                  <a:pt x="6229647" y="5221578"/>
                </a:lnTo>
                <a:lnTo>
                  <a:pt x="62296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A5BBD22-EC52-47BE-B858-5C68179173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0896080"/>
              </p:ext>
            </p:extLst>
          </p:nvPr>
        </p:nvGraphicFramePr>
        <p:xfrm>
          <a:off x="1447800" y="2552700"/>
          <a:ext cx="14325600" cy="5859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Freeform 7">
            <a:extLst>
              <a:ext uri="{FF2B5EF4-FFF2-40B4-BE49-F238E27FC236}">
                <a16:creationId xmlns:a16="http://schemas.microsoft.com/office/drawing/2014/main" id="{95CDB9AF-4E4F-C1AB-52B3-CF7FD7519B76}"/>
              </a:ext>
            </a:extLst>
          </p:cNvPr>
          <p:cNvSpPr/>
          <p:nvPr/>
        </p:nvSpPr>
        <p:spPr>
          <a:xfrm>
            <a:off x="825544" y="8894796"/>
            <a:ext cx="542920" cy="482642"/>
          </a:xfrm>
          <a:custGeom>
            <a:avLst/>
            <a:gdLst/>
            <a:ahLst/>
            <a:cxnLst/>
            <a:rect l="l" t="t" r="r" b="b"/>
            <a:pathLst>
              <a:path w="3651662" h="4114800">
                <a:moveTo>
                  <a:pt x="0" y="0"/>
                </a:moveTo>
                <a:lnTo>
                  <a:pt x="3651663" y="0"/>
                </a:lnTo>
                <a:lnTo>
                  <a:pt x="3651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58" y="314732"/>
            <a:ext cx="18288000" cy="1383709"/>
            <a:chOff x="0" y="0"/>
            <a:chExt cx="5011430" cy="4498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D5302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33800" y="422703"/>
            <a:ext cx="13411200" cy="1126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60"/>
              </a:lnSpc>
            </a:pPr>
            <a:r>
              <a:rPr lang="en-US" sz="5500" dirty="0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Percentage Domestic Revenue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9274094"/>
            <a:ext cx="1737360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Domestic revenue represented between 20% and 60% of total box office revenue for most movies. </a:t>
            </a:r>
          </a:p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High-grossing films generally relied heavily on international markets.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A3B1EA0-6064-8F99-EC89-8AA4F1E6A8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8542319"/>
              </p:ext>
            </p:extLst>
          </p:nvPr>
        </p:nvGraphicFramePr>
        <p:xfrm>
          <a:off x="1143000" y="1806412"/>
          <a:ext cx="16230599" cy="7086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Freeform 8">
            <a:extLst>
              <a:ext uri="{FF2B5EF4-FFF2-40B4-BE49-F238E27FC236}">
                <a16:creationId xmlns:a16="http://schemas.microsoft.com/office/drawing/2014/main" id="{49C5C581-59B3-26B8-862E-BB7BE35B055C}"/>
              </a:ext>
            </a:extLst>
          </p:cNvPr>
          <p:cNvSpPr/>
          <p:nvPr/>
        </p:nvSpPr>
        <p:spPr>
          <a:xfrm>
            <a:off x="0" y="-35642"/>
            <a:ext cx="2588342" cy="2131142"/>
          </a:xfrm>
          <a:custGeom>
            <a:avLst/>
            <a:gdLst/>
            <a:ahLst/>
            <a:cxnLst/>
            <a:rect l="l" t="t" r="r" b="b"/>
            <a:pathLst>
              <a:path w="5746837" h="4816894">
                <a:moveTo>
                  <a:pt x="0" y="0"/>
                </a:moveTo>
                <a:lnTo>
                  <a:pt x="5746837" y="0"/>
                </a:lnTo>
                <a:lnTo>
                  <a:pt x="5746837" y="4816894"/>
                </a:lnTo>
                <a:lnTo>
                  <a:pt x="0" y="4816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2E92CDE8-F21A-D86E-8270-477ADFFDBFD1}"/>
              </a:ext>
            </a:extLst>
          </p:cNvPr>
          <p:cNvSpPr/>
          <p:nvPr/>
        </p:nvSpPr>
        <p:spPr>
          <a:xfrm>
            <a:off x="381000" y="9281668"/>
            <a:ext cx="542920" cy="482642"/>
          </a:xfrm>
          <a:custGeom>
            <a:avLst/>
            <a:gdLst/>
            <a:ahLst/>
            <a:cxnLst/>
            <a:rect l="l" t="t" r="r" b="b"/>
            <a:pathLst>
              <a:path w="3651662" h="4114800">
                <a:moveTo>
                  <a:pt x="0" y="0"/>
                </a:moveTo>
                <a:lnTo>
                  <a:pt x="3651663" y="0"/>
                </a:lnTo>
                <a:lnTo>
                  <a:pt x="3651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382905"/>
            <a:ext cx="18288000" cy="1708150"/>
            <a:chOff x="0" y="0"/>
            <a:chExt cx="5011430" cy="449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673813"/>
            <a:ext cx="16230600" cy="112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55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Total Revenue vs Product Budgets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70CAD73-097A-4FEC-ADAD-D3D2466DA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39664"/>
              </p:ext>
            </p:extLst>
          </p:nvPr>
        </p:nvGraphicFramePr>
        <p:xfrm>
          <a:off x="1143000" y="2353695"/>
          <a:ext cx="15392400" cy="599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8">
            <a:extLst>
              <a:ext uri="{FF2B5EF4-FFF2-40B4-BE49-F238E27FC236}">
                <a16:creationId xmlns:a16="http://schemas.microsoft.com/office/drawing/2014/main" id="{0F7B1474-9D40-BAC5-6B4B-B26C1CD002C9}"/>
              </a:ext>
            </a:extLst>
          </p:cNvPr>
          <p:cNvSpPr txBox="1"/>
          <p:nvPr/>
        </p:nvSpPr>
        <p:spPr>
          <a:xfrm>
            <a:off x="-27039" y="8917596"/>
            <a:ext cx="18052026" cy="898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Movies with larger production budgets generally earned higher revenues, however several high-budget films underperformed.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0F98A01F-8061-8625-B4CE-143D89B328E9}"/>
              </a:ext>
            </a:extLst>
          </p:cNvPr>
          <p:cNvSpPr/>
          <p:nvPr/>
        </p:nvSpPr>
        <p:spPr>
          <a:xfrm>
            <a:off x="152400" y="8931115"/>
            <a:ext cx="542920" cy="482642"/>
          </a:xfrm>
          <a:custGeom>
            <a:avLst/>
            <a:gdLst/>
            <a:ahLst/>
            <a:cxnLst/>
            <a:rect l="l" t="t" r="r" b="b"/>
            <a:pathLst>
              <a:path w="3651662" h="4114800">
                <a:moveTo>
                  <a:pt x="0" y="0"/>
                </a:moveTo>
                <a:lnTo>
                  <a:pt x="3651663" y="0"/>
                </a:lnTo>
                <a:lnTo>
                  <a:pt x="3651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9665" y="368527"/>
            <a:ext cx="18288000" cy="1708150"/>
            <a:chOff x="0" y="0"/>
            <a:chExt cx="5011430" cy="449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2051212">
            <a:off x="-35758" y="454150"/>
            <a:ext cx="3004464" cy="1679460"/>
          </a:xfrm>
          <a:custGeom>
            <a:avLst/>
            <a:gdLst/>
            <a:ahLst/>
            <a:cxnLst/>
            <a:rect l="l" t="t" r="r" b="b"/>
            <a:pathLst>
              <a:path w="5481142" h="3876662">
                <a:moveTo>
                  <a:pt x="0" y="0"/>
                </a:moveTo>
                <a:lnTo>
                  <a:pt x="5481142" y="0"/>
                </a:lnTo>
                <a:lnTo>
                  <a:pt x="5481142" y="3876662"/>
                </a:lnTo>
                <a:lnTo>
                  <a:pt x="0" y="3876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76400" y="709997"/>
            <a:ext cx="16230600" cy="1167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Average of Profit Margin</a:t>
            </a: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77E41D52-249A-3585-F1A8-D5B2EDCB8BC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6204718"/>
                  </p:ext>
                </p:extLst>
              </p:nvPr>
            </p:nvGraphicFramePr>
            <p:xfrm>
              <a:off x="2362200" y="2502154"/>
              <a:ext cx="12573000" cy="528269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77E41D52-249A-3585-F1A8-D5B2EDCB8B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2200" y="2502154"/>
                <a:ext cx="12573000" cy="5282692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8">
            <a:extLst>
              <a:ext uri="{FF2B5EF4-FFF2-40B4-BE49-F238E27FC236}">
                <a16:creationId xmlns:a16="http://schemas.microsoft.com/office/drawing/2014/main" id="{C1E51B6A-4034-51A6-4CDC-E6805977DBCB}"/>
              </a:ext>
            </a:extLst>
          </p:cNvPr>
          <p:cNvSpPr txBox="1"/>
          <p:nvPr/>
        </p:nvSpPr>
        <p:spPr>
          <a:xfrm>
            <a:off x="-27039" y="8917596"/>
            <a:ext cx="18052026" cy="901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800" dirty="0">
                <a:latin typeface="Antic Bold" panose="020B0604020202020204" charset="0"/>
                <a:ea typeface="Antic Bold" panose="020B0604020202020204" charset="0"/>
              </a:rPr>
              <a:t>Horror and Comedy achieved the highest average profit margins, suggesting that these genres often produce strong financial returns despite relatively moderate production costs.</a:t>
            </a:r>
            <a:endParaRPr lang="en-US" sz="2799" dirty="0">
              <a:solidFill>
                <a:srgbClr val="000000"/>
              </a:solidFill>
              <a:latin typeface="Antic Bold" panose="020B0604020202020204" charset="0"/>
              <a:ea typeface="Antic Bold" panose="020B0604020202020204" charset="0"/>
              <a:cs typeface="Antic Bold"/>
              <a:sym typeface="Antic Bold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CD860D9D-CB7E-6725-93D9-AB3175316E7D}"/>
              </a:ext>
            </a:extLst>
          </p:cNvPr>
          <p:cNvSpPr/>
          <p:nvPr/>
        </p:nvSpPr>
        <p:spPr>
          <a:xfrm>
            <a:off x="250723" y="8434954"/>
            <a:ext cx="542920" cy="482642"/>
          </a:xfrm>
          <a:custGeom>
            <a:avLst/>
            <a:gdLst/>
            <a:ahLst/>
            <a:cxnLst/>
            <a:rect l="l" t="t" r="r" b="b"/>
            <a:pathLst>
              <a:path w="3651662" h="4114800">
                <a:moveTo>
                  <a:pt x="0" y="0"/>
                </a:moveTo>
                <a:lnTo>
                  <a:pt x="3651663" y="0"/>
                </a:lnTo>
                <a:lnTo>
                  <a:pt x="3651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21155" y="3225457"/>
            <a:ext cx="9952045" cy="6141339"/>
            <a:chOff x="0" y="0"/>
            <a:chExt cx="2561009" cy="15888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61009" cy="1588897"/>
            </a:xfrm>
            <a:custGeom>
              <a:avLst/>
              <a:gdLst/>
              <a:ahLst/>
              <a:cxnLst/>
              <a:rect l="l" t="t" r="r" b="b"/>
              <a:pathLst>
                <a:path w="2561009" h="1588897">
                  <a:moveTo>
                    <a:pt x="0" y="0"/>
                  </a:moveTo>
                  <a:lnTo>
                    <a:pt x="2561009" y="0"/>
                  </a:lnTo>
                  <a:lnTo>
                    <a:pt x="2561009" y="1588897"/>
                  </a:lnTo>
                  <a:lnTo>
                    <a:pt x="0" y="1588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61009" cy="161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30816" y="1028700"/>
            <a:ext cx="19027773" cy="1708150"/>
            <a:chOff x="0" y="0"/>
            <a:chExt cx="5011430" cy="4498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11430" cy="449883"/>
            </a:xfrm>
            <a:custGeom>
              <a:avLst/>
              <a:gdLst/>
              <a:ahLst/>
              <a:cxnLst/>
              <a:rect l="l" t="t" r="r" b="b"/>
              <a:pathLst>
                <a:path w="5011430" h="449883">
                  <a:moveTo>
                    <a:pt x="0" y="0"/>
                  </a:moveTo>
                  <a:lnTo>
                    <a:pt x="5011430" y="0"/>
                  </a:lnTo>
                  <a:lnTo>
                    <a:pt x="5011430" y="449883"/>
                  </a:lnTo>
                  <a:lnTo>
                    <a:pt x="0" y="4498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011430" cy="47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43016" y="3241434"/>
            <a:ext cx="9449184" cy="5515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</a:pPr>
            <a:endParaRPr lang="en-US" sz="2799" dirty="0">
              <a:solidFill>
                <a:srgbClr val="000000"/>
              </a:solidFill>
              <a:latin typeface="Antic Bold"/>
              <a:ea typeface="Antic Bold"/>
              <a:cs typeface="Antic Bold"/>
              <a:sym typeface="Antic Bold"/>
            </a:endParaRPr>
          </a:p>
          <a:p>
            <a:pPr marL="457200" indent="-457200">
              <a:lnSpc>
                <a:spcPts val="3639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Horror movies yield the highest ROI, </a:t>
            </a:r>
            <a:r>
              <a:rPr lang="en-US" sz="2800" dirty="0">
                <a:latin typeface="Antic Bold" panose="020B0604020202020204" charset="0"/>
                <a:ea typeface="Antic Bold" panose="020B0604020202020204" charset="0"/>
                <a:cs typeface="TAN Headline"/>
                <a:sym typeface="TAN Headline"/>
              </a:rPr>
              <a:t>Thriller/Suspense</a:t>
            </a: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 show the lowest.</a:t>
            </a:r>
          </a:p>
          <a:p>
            <a:pPr marL="457200" indent="-457200">
              <a:lnSpc>
                <a:spcPts val="3639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Most movies generate higher revenue from international markets than from the domestic market.</a:t>
            </a:r>
          </a:p>
          <a:p>
            <a:pPr marL="457200" indent="-457200">
              <a:lnSpc>
                <a:spcPts val="3639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Domestic revenue typically accounts for 20–60% of total revenue.</a:t>
            </a:r>
          </a:p>
          <a:p>
            <a:pPr marL="457200" indent="-457200">
              <a:lnSpc>
                <a:spcPts val="3639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High-budget films often achieve high revenue; However, some low-budget movies have achieved a higher ROI than several high-budget films.</a:t>
            </a:r>
          </a:p>
          <a:p>
            <a:pPr marL="457200" indent="-457200">
              <a:lnSpc>
                <a:spcPts val="3639"/>
              </a:lnSpc>
              <a:buFont typeface="Arial" panose="020B0604020202020204" pitchFamily="34" charset="0"/>
              <a:buChar char="•"/>
            </a:pPr>
            <a:r>
              <a:rPr lang="en-US" sz="2799" dirty="0">
                <a:solidFill>
                  <a:srgbClr val="000000"/>
                </a:solidFill>
                <a:latin typeface="Antic Bold"/>
                <a:ea typeface="Antic Bold"/>
                <a:cs typeface="Antic Bold"/>
                <a:sym typeface="Antic Bold"/>
              </a:rPr>
              <a:t>Movies tend to be released in large numbers during the summer and spring.</a:t>
            </a:r>
          </a:p>
        </p:txBody>
      </p:sp>
      <p:sp>
        <p:nvSpPr>
          <p:cNvPr id="9" name="Freeform 9"/>
          <p:cNvSpPr/>
          <p:nvPr/>
        </p:nvSpPr>
        <p:spPr>
          <a:xfrm>
            <a:off x="152400" y="5864523"/>
            <a:ext cx="2906019" cy="4422477"/>
          </a:xfrm>
          <a:custGeom>
            <a:avLst/>
            <a:gdLst/>
            <a:ahLst/>
            <a:cxnLst/>
            <a:rect l="l" t="t" r="r" b="b"/>
            <a:pathLst>
              <a:path w="3950474" h="5443027">
                <a:moveTo>
                  <a:pt x="0" y="0"/>
                </a:moveTo>
                <a:lnTo>
                  <a:pt x="3950473" y="0"/>
                </a:lnTo>
                <a:lnTo>
                  <a:pt x="3950473" y="5443027"/>
                </a:lnTo>
                <a:lnTo>
                  <a:pt x="0" y="54430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236980"/>
            <a:ext cx="16230600" cy="117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Summarize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15481637" y="5483523"/>
            <a:ext cx="2806363" cy="4803477"/>
          </a:xfrm>
          <a:custGeom>
            <a:avLst/>
            <a:gdLst/>
            <a:ahLst/>
            <a:cxnLst/>
            <a:rect l="l" t="t" r="r" b="b"/>
            <a:pathLst>
              <a:path w="3950474" h="5443027">
                <a:moveTo>
                  <a:pt x="3950473" y="0"/>
                </a:moveTo>
                <a:lnTo>
                  <a:pt x="0" y="0"/>
                </a:lnTo>
                <a:lnTo>
                  <a:pt x="0" y="5443027"/>
                </a:lnTo>
                <a:lnTo>
                  <a:pt x="3950473" y="5443027"/>
                </a:lnTo>
                <a:lnTo>
                  <a:pt x="39504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0237" y="2171208"/>
            <a:ext cx="13607527" cy="5944585"/>
            <a:chOff x="0" y="0"/>
            <a:chExt cx="3583875" cy="1565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3875" cy="1565652"/>
            </a:xfrm>
            <a:custGeom>
              <a:avLst/>
              <a:gdLst/>
              <a:ahLst/>
              <a:cxnLst/>
              <a:rect l="l" t="t" r="r" b="b"/>
              <a:pathLst>
                <a:path w="3583875" h="1565652">
                  <a:moveTo>
                    <a:pt x="0" y="0"/>
                  </a:moveTo>
                  <a:lnTo>
                    <a:pt x="3583875" y="0"/>
                  </a:lnTo>
                  <a:lnTo>
                    <a:pt x="3583875" y="1565652"/>
                  </a:lnTo>
                  <a:lnTo>
                    <a:pt x="0" y="1565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583875" cy="1594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079160">
            <a:off x="7263581" y="7631881"/>
            <a:ext cx="3760839" cy="4114800"/>
          </a:xfrm>
          <a:custGeom>
            <a:avLst/>
            <a:gdLst/>
            <a:ahLst/>
            <a:cxnLst/>
            <a:rect l="l" t="t" r="r" b="b"/>
            <a:pathLst>
              <a:path w="3760839" h="4114800">
                <a:moveTo>
                  <a:pt x="0" y="0"/>
                </a:moveTo>
                <a:lnTo>
                  <a:pt x="3760838" y="0"/>
                </a:lnTo>
                <a:lnTo>
                  <a:pt x="3760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670560" y="3553147"/>
            <a:ext cx="8946880" cy="383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51"/>
              </a:lnSpc>
            </a:pPr>
            <a:r>
              <a:rPr lang="en-US" sz="14542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The</a:t>
            </a:r>
          </a:p>
          <a:p>
            <a:pPr algn="ctr">
              <a:lnSpc>
                <a:spcPts val="17160"/>
              </a:lnSpc>
            </a:pPr>
            <a:r>
              <a:rPr lang="en-US" sz="14542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end</a:t>
            </a:r>
          </a:p>
        </p:txBody>
      </p:sp>
      <p:sp>
        <p:nvSpPr>
          <p:cNvPr id="7" name="Freeform 7"/>
          <p:cNvSpPr/>
          <p:nvPr/>
        </p:nvSpPr>
        <p:spPr>
          <a:xfrm rot="-1436891">
            <a:off x="-57322" y="6455483"/>
            <a:ext cx="4167216" cy="3646314"/>
          </a:xfrm>
          <a:custGeom>
            <a:avLst/>
            <a:gdLst/>
            <a:ahLst/>
            <a:cxnLst/>
            <a:rect l="l" t="t" r="r" b="b"/>
            <a:pathLst>
              <a:path w="4167216" h="3646314">
                <a:moveTo>
                  <a:pt x="0" y="0"/>
                </a:moveTo>
                <a:lnTo>
                  <a:pt x="4167216" y="0"/>
                </a:lnTo>
                <a:lnTo>
                  <a:pt x="4167216" y="3646314"/>
                </a:lnTo>
                <a:lnTo>
                  <a:pt x="0" y="3646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952308">
            <a:off x="14121375" y="493021"/>
            <a:ext cx="4415125" cy="3162333"/>
          </a:xfrm>
          <a:custGeom>
            <a:avLst/>
            <a:gdLst/>
            <a:ahLst/>
            <a:cxnLst/>
            <a:rect l="l" t="t" r="r" b="b"/>
            <a:pathLst>
              <a:path w="4415125" h="3162333">
                <a:moveTo>
                  <a:pt x="0" y="0"/>
                </a:moveTo>
                <a:lnTo>
                  <a:pt x="4415125" y="0"/>
                </a:lnTo>
                <a:lnTo>
                  <a:pt x="4415125" y="3162333"/>
                </a:lnTo>
                <a:lnTo>
                  <a:pt x="0" y="316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08957" y="-222363"/>
            <a:ext cx="5746837" cy="4816894"/>
          </a:xfrm>
          <a:custGeom>
            <a:avLst/>
            <a:gdLst/>
            <a:ahLst/>
            <a:cxnLst/>
            <a:rect l="l" t="t" r="r" b="b"/>
            <a:pathLst>
              <a:path w="5746837" h="4816894">
                <a:moveTo>
                  <a:pt x="0" y="0"/>
                </a:moveTo>
                <a:lnTo>
                  <a:pt x="5746837" y="0"/>
                </a:lnTo>
                <a:lnTo>
                  <a:pt x="5746837" y="4816894"/>
                </a:lnTo>
                <a:lnTo>
                  <a:pt x="0" y="4816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63375" y="5943901"/>
            <a:ext cx="4177060" cy="4669478"/>
          </a:xfrm>
          <a:custGeom>
            <a:avLst/>
            <a:gdLst/>
            <a:ahLst/>
            <a:cxnLst/>
            <a:rect l="l" t="t" r="r" b="b"/>
            <a:pathLst>
              <a:path w="4177060" h="4669478">
                <a:moveTo>
                  <a:pt x="0" y="0"/>
                </a:moveTo>
                <a:lnTo>
                  <a:pt x="4177060" y="0"/>
                </a:lnTo>
                <a:lnTo>
                  <a:pt x="4177060" y="4669478"/>
                </a:lnTo>
                <a:lnTo>
                  <a:pt x="0" y="4669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237710" y="-740780"/>
            <a:ext cx="3515591" cy="2486481"/>
          </a:xfrm>
          <a:custGeom>
            <a:avLst/>
            <a:gdLst/>
            <a:ahLst/>
            <a:cxnLst/>
            <a:rect l="l" t="t" r="r" b="b"/>
            <a:pathLst>
              <a:path w="3515591" h="2486481">
                <a:moveTo>
                  <a:pt x="0" y="0"/>
                </a:moveTo>
                <a:lnTo>
                  <a:pt x="3515590" y="0"/>
                </a:lnTo>
                <a:lnTo>
                  <a:pt x="3515590" y="2486482"/>
                </a:lnTo>
                <a:lnTo>
                  <a:pt x="0" y="2486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240</Words>
  <Application>Microsoft Office PowerPoint</Application>
  <PresentationFormat>Custom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TAN Headline</vt:lpstr>
      <vt:lpstr>Antic Bold</vt:lpstr>
      <vt:lpstr>Arial</vt:lpstr>
      <vt:lpstr>Calibri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Movie Posters Educational Presentation in Lilac Red Illustrative Style </dc:title>
  <cp:lastModifiedBy>Tran Vu</cp:lastModifiedBy>
  <cp:revision>9</cp:revision>
  <dcterms:created xsi:type="dcterms:W3CDTF">2006-08-16T00:00:00Z</dcterms:created>
  <dcterms:modified xsi:type="dcterms:W3CDTF">2026-06-26T19:47:38Z</dcterms:modified>
  <dc:identifier>DAHNsnuT7c4</dc:identifier>
</cp:coreProperties>
</file>